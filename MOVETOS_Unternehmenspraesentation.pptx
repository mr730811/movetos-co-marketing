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9" y="0"/>
            <a:ext cx="4693615" cy="6858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06640" y="1097280"/>
            <a:ext cx="38100" cy="45720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840480" cy="5568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E87F24"/>
                </a:solidFill>
                <a:latin typeface="Consolas"/>
              </a:defRPr>
            </a:pPr>
            <a:r>
              <a:t>OPERATIONS  ·  INTELLIGENCE  · 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200" b="1">
                <a:solidFill>
                  <a:srgbClr val="1A1A1F"/>
                </a:solidFill>
                <a:latin typeface="Calibri"/>
              </a:defRPr>
            </a:pPr>
            <a:r>
              <a:t>Unternehmens-</a:t>
            </a:r>
          </a:p>
          <a:p>
            <a:pPr algn="l">
              <a:spcAft>
                <a:spcPts val="1600"/>
              </a:spcAft>
              <a:defRPr sz="4200" b="1">
                <a:solidFill>
                  <a:srgbClr val="E87F24"/>
                </a:solidFill>
                <a:latin typeface="Calibri"/>
              </a:defRPr>
            </a:pPr>
            <a:r>
              <a:t>präsentation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9494A0"/>
                </a:solidFill>
                <a:latin typeface="Calibri"/>
              </a:defRPr>
            </a:pPr>
            <a:r>
              <a:t>MOVETOS Germany GmbH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94A0"/>
                </a:solidFill>
                <a:latin typeface="Calibri"/>
              </a:defRPr>
            </a:pPr>
            <a:r>
              <a:t>Pöcking am Starnberger See,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1A1A1F"/>
                </a:solidFill>
                <a:latin typeface="Calibri"/>
              </a:defRPr>
            </a:pPr>
            <a:r>
              <a:t>Infrastruktur,</a:t>
            </a:r>
          </a:p>
          <a:p>
            <a:pPr algn="l">
              <a:spcAft>
                <a:spcPts val="200"/>
              </a:spcAft>
              <a:defRPr sz="3000" b="1">
                <a:solidFill>
                  <a:srgbClr val="1A1A1F"/>
                </a:solidFill>
                <a:latin typeface="Calibri"/>
              </a:defRPr>
            </a:pPr>
            <a:r>
              <a:t>die Events</a:t>
            </a:r>
          </a:p>
          <a:p>
            <a:pPr algn="l">
              <a:spcAft>
                <a:spcPts val="2800"/>
              </a:spcAft>
              <a:defRPr sz="3000" b="1">
                <a:solidFill>
                  <a:srgbClr val="E87F24"/>
                </a:solidFill>
                <a:latin typeface="Calibri"/>
              </a:defRPr>
            </a:pPr>
            <a:r>
              <a:t>möglich macht.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B6B76"/>
                </a:solidFill>
                <a:latin typeface="Calibri"/>
              </a:defRPr>
            </a:pPr>
            <a:r>
              <a:t>Kabellose Technologie.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B6B76"/>
                </a:solidFill>
                <a:latin typeface="Calibri"/>
              </a:defRPr>
            </a:pPr>
            <a:r>
              <a:t>KI-gestützte Steuerung.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B6B76"/>
                </a:solidFill>
                <a:latin typeface="Calibri"/>
              </a:defRPr>
            </a:pPr>
            <a:r>
              <a:t>Personensicherheit durch Echtzeitanalyse.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6B6B76"/>
                </a:solidFill>
                <a:latin typeface="Calibri"/>
              </a:defRPr>
            </a:pPr>
            <a:r>
              <a:t>Bewährt bei über 150 Großveranstaltungen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B6B76"/>
                </a:solidFill>
                <a:latin typeface="Calibri"/>
              </a:defRPr>
            </a:pPr>
            <a:r>
              <a:t>mit mehr als 8 Millionen Besuchern.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537960"/>
            <a:ext cx="8534095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ÜBER MOVETOS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A1A1F"/>
                </a:solidFill>
                <a:latin typeface="Calibri"/>
              </a:defRPr>
            </a:pPr>
            <a:r>
              <a:t>Wir machen Events möglich, die ohne</a:t>
            </a:r>
          </a:p>
          <a:p>
            <a:pPr algn="l">
              <a:spcAft>
                <a:spcPts val="1200"/>
              </a:spcAft>
              <a:defRPr sz="3000" b="1">
                <a:solidFill>
                  <a:srgbClr val="E87F24"/>
                </a:solidFill>
                <a:latin typeface="Calibri"/>
              </a:defRPr>
            </a:pPr>
            <a:r>
              <a:t>uns nicht stattfinden könnten.</a:t>
            </a: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>
                <a:solidFill>
                  <a:srgbClr val="6B6B76"/>
                </a:solidFill>
                <a:latin typeface="Calibri"/>
              </a:defRPr>
            </a:pPr>
            <a:r>
              <a:t>MOVETOS Germany GmbH entwickelt und fertigt kabellose, netzunabhängige Infrastruktursysteme,</a:t>
            </a:r>
            <a:br/>
            <a:r>
              <a:t>die Veranstaltungen und kritische Standorte operativ handlungsfähig machen —</a:t>
            </a:r>
            <a:br/>
            <a:r>
              <a:t>überall dort, wo keine feste Infrastruktur existiert.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2331720" cy="118872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233172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8328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50"/>
              </a:lnSpc>
              <a:spcAft>
                <a:spcPts val="0"/>
              </a:spcAft>
              <a:defRPr sz="2600" b="1">
                <a:solidFill>
                  <a:srgbClr val="E87F24"/>
                </a:solidFill>
                <a:latin typeface="Calibri"/>
              </a:defRPr>
            </a:pPr>
            <a: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3192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0">
                <a:solidFill>
                  <a:srgbClr val="9494A0"/>
                </a:solidFill>
                <a:latin typeface="Consolas"/>
              </a:defRPr>
            </a:pPr>
            <a:r>
              <a:t>Gegründet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200400"/>
            <a:ext cx="2331720" cy="118872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3200400"/>
            <a:ext cx="23317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38328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50"/>
              </a:lnSpc>
              <a:spcAft>
                <a:spcPts val="0"/>
              </a:spcAft>
              <a:defRPr sz="2600" b="1">
                <a:solidFill>
                  <a:srgbClr val="2563EB"/>
                </a:solidFill>
                <a:latin typeface="Calibri"/>
              </a:defRPr>
            </a:pPr>
            <a:r>
              <a:t>150+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93192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0">
                <a:solidFill>
                  <a:srgbClr val="9494A0"/>
                </a:solidFill>
                <a:latin typeface="Consolas"/>
              </a:defRPr>
            </a:pPr>
            <a:r>
              <a:t>Events betreut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200400"/>
            <a:ext cx="2331720" cy="118872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200400"/>
            <a:ext cx="233172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38328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50"/>
              </a:lnSpc>
              <a:spcAft>
                <a:spcPts val="0"/>
              </a:spcAft>
              <a:defRPr sz="2600" b="1">
                <a:solidFill>
                  <a:srgbClr val="16A34A"/>
                </a:solidFill>
                <a:latin typeface="Calibri"/>
              </a:defRPr>
            </a:pPr>
            <a:r>
              <a:t>8 Mio.+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93192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0">
                <a:solidFill>
                  <a:srgbClr val="9494A0"/>
                </a:solidFill>
                <a:latin typeface="Consolas"/>
              </a:defRPr>
            </a:pPr>
            <a:r>
              <a:t>Besucher analysiert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200400"/>
            <a:ext cx="2331720" cy="118872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3200400"/>
            <a:ext cx="2331720" cy="381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38328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50"/>
              </a:lnSpc>
              <a:spcAft>
                <a:spcPts val="0"/>
              </a:spcAft>
              <a:defRPr sz="2600" b="1">
                <a:solidFill>
                  <a:srgbClr val="CA8A04"/>
                </a:solidFill>
                <a:latin typeface="Calibri"/>
              </a:defRPr>
            </a:pPr>
            <a:r>
              <a:t>12+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93192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0">
                <a:solidFill>
                  <a:srgbClr val="9494A0"/>
                </a:solidFill>
                <a:latin typeface="Consolas"/>
              </a:defRPr>
            </a:pPr>
            <a:r>
              <a:t>Jahre Erfahrung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54880"/>
            <a:ext cx="3200400" cy="15087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9194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  <a:defRPr sz="1400" b="1">
                <a:solidFill>
                  <a:srgbClr val="E87F24"/>
                </a:solidFill>
                <a:latin typeface="Calibri"/>
              </a:defRPr>
            </a:pPr>
            <a:r>
              <a:t>Praxisnah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5780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Unsere Technologie entsteht aus echten</a:t>
            </a:r>
            <a:br/>
            <a:r>
              <a:t>Anforderungen realer Events —</a:t>
            </a:r>
            <a:br/>
            <a:r>
              <a:t>nicht am Schreibtisch.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754880"/>
            <a:ext cx="3200400" cy="15087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9194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  <a:defRPr sz="1400" b="1">
                <a:solidFill>
                  <a:srgbClr val="E87F24"/>
                </a:solidFill>
                <a:latin typeface="Calibri"/>
              </a:defRPr>
            </a:pPr>
            <a:r>
              <a:t>Partnerschaftlich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25780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Nicht Lieferant, sondern Partner</a:t>
            </a:r>
            <a:br/>
            <a:r>
              <a:t>für den operativen Erfolg — vor,</a:t>
            </a:r>
            <a:br/>
            <a:r>
              <a:t>während und nach dem Event.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4754880"/>
            <a:ext cx="3200400" cy="15087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9194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  <a:defRPr sz="1400" b="1">
                <a:solidFill>
                  <a:srgbClr val="E87F24"/>
                </a:solidFill>
                <a:latin typeface="Calibri"/>
              </a:defRPr>
            </a:pPr>
            <a:r>
              <a:t>Made in Germany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25780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Entwicklung, Fertigung und Support</a:t>
            </a:r>
            <a:br/>
            <a:r>
              <a:t>aus Pöcking am Starnberger See.</a:t>
            </a:r>
            <a:br/>
            <a:r>
              <a:t>Alles aus einer Hand.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DIE HERAUSFORDERUNG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1A1F"/>
                </a:solidFill>
                <a:latin typeface="Calibri"/>
              </a:defRPr>
            </a:pPr>
            <a:r>
              <a:t>Wer 50.000 Menschen betreut, braucht</a:t>
            </a:r>
          </a:p>
          <a:p>
            <a:pPr algn="l">
              <a:spcAft>
                <a:spcPts val="1000"/>
              </a:spcAft>
              <a:defRPr sz="2800" b="1">
                <a:solidFill>
                  <a:srgbClr val="E87F24"/>
                </a:solidFill>
                <a:latin typeface="Calibri"/>
              </a:defRPr>
            </a:pPr>
            <a:r>
              <a:t>mehr als Funksprüche.</a:t>
            </a: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Hunderte Entscheidungen pro Stunde — die meisten auf Basis von Bauchgefühl und fragmentierten Informationen.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2423160" cy="22860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2004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FRAGE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2900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Wo staut es sich gerade?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206240"/>
            <a:ext cx="1965960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3434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DC2626"/>
                </a:solidFill>
                <a:latin typeface="Consolas"/>
              </a:defRPr>
            </a:pPr>
            <a:r>
              <a:t>STATUS QUO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57200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9494A0"/>
                </a:solidFill>
                <a:latin typeface="Calibri"/>
              </a:defRPr>
            </a:pPr>
            <a:r>
              <a:t>Funkspruch —</a:t>
            </a:r>
            <a:br/>
            <a:r>
              <a:t>wenn es zu spät 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017520"/>
            <a:ext cx="2423160" cy="22860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32004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FRAGE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2900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Wie viele Besucher</a:t>
            </a:r>
            <a:br/>
            <a:r>
              <a:t>im Bereich?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206240"/>
            <a:ext cx="1965960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3434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DC2626"/>
                </a:solidFill>
                <a:latin typeface="Consolas"/>
              </a:defRPr>
            </a:pPr>
            <a:r>
              <a:t>STATUS QUO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57200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9494A0"/>
                </a:solidFill>
                <a:latin typeface="Calibri"/>
              </a:defRPr>
            </a:pPr>
            <a:r>
              <a:t>Manuelle Zähltruppe,</a:t>
            </a:r>
            <a:br/>
            <a:r>
              <a:t>alle 30 Minuten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017520"/>
            <a:ext cx="2423160" cy="22860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2004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FRAGE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2900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Ist Zone C voll</a:t>
            </a:r>
            <a:br/>
            <a:r>
              <a:t>oder geht noch was?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206240"/>
            <a:ext cx="1965960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3434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DC2626"/>
                </a:solidFill>
                <a:latin typeface="Consolas"/>
              </a:defRPr>
            </a:pPr>
            <a:r>
              <a:t>STATUS QUO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7200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9494A0"/>
                </a:solidFill>
                <a:latin typeface="Calibri"/>
              </a:defRPr>
            </a:pPr>
            <a:r>
              <a:t>Schätzung</a:t>
            </a:r>
            <a:br/>
            <a:r>
              <a:t>vom Ordner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017520"/>
            <a:ext cx="2423160" cy="22860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2004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FRAGE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42900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Was ist vor 2 Stunden</a:t>
            </a:r>
            <a:br/>
            <a:r>
              <a:t>passiert?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4206240"/>
            <a:ext cx="1965960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3434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DC2626"/>
                </a:solidFill>
                <a:latin typeface="Consolas"/>
              </a:defRPr>
            </a:pPr>
            <a:r>
              <a:t>STATUS QUO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57200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  <a:defRPr sz="1200" b="0">
                <a:solidFill>
                  <a:srgbClr val="9494A0"/>
                </a:solidFill>
                <a:latin typeface="Calibri"/>
              </a:defRPr>
            </a:pPr>
            <a:r>
              <a:t>Niemand</a:t>
            </a:r>
            <a:br/>
            <a:r>
              <a:t>weiß es genau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623560"/>
            <a:ext cx="10332720" cy="502920"/>
          </a:xfrm>
          <a:prstGeom prst="roundRect">
            <a:avLst/>
          </a:prstGeom>
          <a:solidFill>
            <a:srgbClr val="F4F4F7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715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  <a:defRPr sz="1400" b="1">
                <a:solidFill>
                  <a:srgbClr val="E87F24"/>
                </a:solidFill>
                <a:latin typeface="Calibri"/>
              </a:defRPr>
            </a:pPr>
            <a:r>
              <a:t>CrowdOps macht Schluss mit dem Blindflug — für bessere Entscheidungen und mehr Sicherheit.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DAS MOVETOS-SYSTEM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000" b="1">
                <a:solidFill>
                  <a:srgbClr val="1A1A1F"/>
                </a:solidFill>
                <a:latin typeface="Calibri"/>
              </a:defRPr>
            </a:pPr>
            <a:r>
              <a:t>Software und Hardware als ein System.</a:t>
            </a: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MOVETOS verbindet KI-gestützte Operations Intelligence mit kabelloser, netzautarker Infrastruktur.</a:t>
            </a:r>
            <a:br/>
            <a:r>
              <a:t>Ein geschlossener Regelkreis vom Erkennen bis zum Steuern.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4937760" cy="32004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493776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971800"/>
            <a:ext cx="10972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50"/>
              </a:lnSpc>
              <a:spcAft>
                <a:spcPts val="0"/>
              </a:spcAft>
              <a:defRPr sz="2200" b="1">
                <a:solidFill>
                  <a:srgbClr val="1A1A1F"/>
                </a:solidFill>
                <a:latin typeface="Calibri"/>
              </a:defRPr>
            </a:pPr>
            <a:r>
              <a:t>CrowdOps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9494A0"/>
                </a:solidFill>
                <a:latin typeface="Calibri"/>
              </a:defRPr>
            </a:pPr>
            <a:r>
              <a:t>Die KI-Plattform für Operations Intelligence.</a:t>
            </a:r>
            <a:br/>
            <a:r>
              <a:t>Echtzeit-Lagebild, Besucheranalyse, Kapazitätsoptimierung und eingebaute Compliance.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43400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Echtzeit-Besucheranalyse über alle Kameras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99432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Automatische Handlungsempfehlungen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55464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Interaktives Lagebild mit Kartenansicht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1149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Gezielte Besucherlenkung per Durchsage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6752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Lückenlose Dokumentation &amp; Audit-Trail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4937760" cy="32004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743200"/>
            <a:ext cx="493776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971800"/>
            <a:ext cx="1097280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50"/>
              </a:lnSpc>
              <a:spcAft>
                <a:spcPts val="0"/>
              </a:spcAft>
              <a:defRPr sz="2200" b="1">
                <a:solidFill>
                  <a:srgbClr val="1A1A1F"/>
                </a:solidFill>
                <a:latin typeface="Calibri"/>
              </a:defRPr>
            </a:pPr>
            <a:r>
              <a:t>MOVETOS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9494A0"/>
                </a:solidFill>
                <a:latin typeface="Calibri"/>
              </a:defRPr>
            </a:pPr>
            <a:r>
              <a:t>Kabellose, netzautarke Infrastruktur — Kameras, Lautsprecher, mobile Leitstelle.</a:t>
            </a:r>
            <a:br/>
            <a:r>
              <a:t>Aufgebaut in unter 5 Stunden. Überall.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43400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Kabellose Mastsysteme mit HD-Kameras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99432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Durchsagesysteme (BDS/NDS)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55464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Mobile Leitstelle (OCC)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1149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Netz- und stromautark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36752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✓  Plug &amp; Play in unter 5 Stunden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6126480"/>
            <a:ext cx="103327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6199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200" b="1">
                <a:solidFill>
                  <a:srgbClr val="E87F24"/>
                </a:solidFill>
                <a:latin typeface="Calibri"/>
              </a:defRPr>
            </a:pPr>
            <a:r>
              <a:t>Zusammen unschlagbar: CrowdOps erkennt und bewertet — MOVETOS SET reagiert. Vom Kamerabild zur gezielten Durchsage. Ohne Medienbruch.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CROWDOPS — OPERATIONS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1A1F"/>
                </a:solidFill>
                <a:latin typeface="Calibri"/>
              </a:defRPr>
            </a:pPr>
            <a:r>
              <a:t>Wissen, was passiert.</a:t>
            </a:r>
          </a:p>
          <a:p>
            <a:pPr algn="l">
              <a:spcAft>
                <a:spcPts val="1000"/>
              </a:spcAft>
              <a:defRPr sz="2800" b="1">
                <a:solidFill>
                  <a:srgbClr val="E87F24"/>
                </a:solidFill>
                <a:latin typeface="Calibri"/>
              </a:defRPr>
            </a:pPr>
            <a:r>
              <a:t>Steuern, was zählt.</a:t>
            </a: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Die KI-Plattform, die Betreibern von Großveranstaltungen ein Echtzeit-Lagebild ihres gesamten</a:t>
            </a:r>
            <a:br/>
            <a:r>
              <a:t>Geländes gibt — für vorausschauende Entscheidungen statt Blindflug.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3200400" cy="14630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2186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800" b="0">
                <a:solidFill>
                  <a:srgbClr val="E87F24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Mehr Kapazität nutzen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66160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Wissen, wo Platz ist. Bereiche</a:t>
            </a:r>
            <a:br/>
            <a:r>
              <a:t>nicht unnötig sperren. 10-15%</a:t>
            </a:r>
            <a:br/>
            <a:r>
              <a:t>mehr Kapazitätsauslastung.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108960"/>
            <a:ext cx="3200400" cy="14630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2186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800" b="0">
                <a:solidFill>
                  <a:srgbClr val="E87F24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Besseres Erlebnis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566160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Weniger Staus, kluge Wegführung,</a:t>
            </a:r>
            <a:br/>
            <a:r>
              <a:t>kürzere Wartezeiten. Mehr Sicherheit</a:t>
            </a:r>
            <a:br/>
            <a:r>
              <a:t>durch frühzeitige Entlastung.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108960"/>
            <a:ext cx="3200400" cy="14630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2186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800" b="0">
                <a:solidFill>
                  <a:srgbClr val="E87F24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Schneller entscheiden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566160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Echtzeit-Lagebild statt Funk-</a:t>
            </a:r>
            <a:br/>
            <a:r>
              <a:t>sprüche. Kritische Situationen</a:t>
            </a:r>
            <a:br/>
            <a:r>
              <a:t>erkennen, bevor sie eskalieren.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00600"/>
            <a:ext cx="3200400" cy="14630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9103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800" b="0">
                <a:solidFill>
                  <a:srgbClr val="E87F24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37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Compliance eingebaut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57800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Lückenlose Dokumentation läuft</a:t>
            </a:r>
            <a:br/>
            <a:r>
              <a:t>automatisch mit. Genehmigungs-</a:t>
            </a:r>
            <a:br/>
            <a:r>
              <a:t>prozesse werden einfacher.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800600"/>
            <a:ext cx="3200400" cy="14630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9103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800" b="0">
                <a:solidFill>
                  <a:srgbClr val="E87F24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37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Team befähigen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257800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CrowdOps ist der Co-Pilot für</a:t>
            </a:r>
            <a:br/>
            <a:r>
              <a:t>Ihr Betriebsteam. Der Mensch</a:t>
            </a:r>
            <a:br/>
            <a:r>
              <a:t>behält die Kontrolle.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4800600"/>
            <a:ext cx="3200400" cy="14630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49103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800" b="0">
                <a:solidFill>
                  <a:srgbClr val="E87F24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937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1A1A1F"/>
                </a:solidFill>
                <a:latin typeface="Calibri"/>
              </a:defRPr>
            </a:pPr>
            <a:r>
              <a:t>Datenschutz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257800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Keine Gesichtserkennung.</a:t>
            </a:r>
            <a:br/>
            <a:r>
              <a:t>Privacy-Zonen. Automatische</a:t>
            </a:r>
            <a:br/>
            <a:r>
              <a:t>Bildmaskierung. DSGVO-konform.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SO FUNKTIONIERT'S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800" b="1">
                <a:solidFill>
                  <a:srgbClr val="1A1A1F"/>
                </a:solidFill>
                <a:latin typeface="Calibri"/>
              </a:defRPr>
            </a:pPr>
            <a:r>
              <a:t>Von der Erkennung zur Steuerung — in Echtzeit.</a:t>
            </a: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CrowdOps schließt den Regelkreis zwischen Erkennen, Einordnen und gezieltem Handeln —</a:t>
            </a:r>
            <a:br/>
            <a:r>
              <a:t>automatisch oder vom Operator bestätigt.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246120"/>
            <a:ext cx="7132320" cy="254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3200400" cy="27432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320040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3200400"/>
            <a:ext cx="457200" cy="457200"/>
          </a:xfrm>
          <a:prstGeom prst="ellipse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  <a:defRPr sz="1500" b="1">
                <a:solidFill>
                  <a:srgbClr val="1A1A1F"/>
                </a:solidFill>
                <a:latin typeface="Calibri"/>
              </a:defRPr>
            </a:pPr>
            <a:r>
              <a:t>ERKENNEN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CrowdOps erfasst Besucherzahlen,</a:t>
            </a:r>
            <a:br/>
            <a:r>
              <a:t>Auslastung und Bewegungsmuster</a:t>
            </a:r>
            <a:br/>
            <a:r>
              <a:t>über alle Kamerastandorte —</a:t>
            </a:r>
            <a:br/>
            <a:r>
              <a:t>kontinuierlich und in Echtzeit.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20"/>
            <a:ext cx="3200400" cy="27432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017520"/>
            <a:ext cx="3200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3200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  <a:defRPr sz="1500" b="1">
                <a:solidFill>
                  <a:srgbClr val="1A1A1F"/>
                </a:solidFill>
                <a:latin typeface="Calibri"/>
              </a:defRPr>
            </a:pPr>
            <a:r>
              <a:t>EINORDNEN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8862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Die Plattform bewertet die Lage</a:t>
            </a:r>
            <a:br/>
            <a:r>
              <a:t>automatisch anhand konfigurierbarer</a:t>
            </a:r>
            <a:br/>
            <a:r>
              <a:t>Schwellenwerte und gibt dem Team</a:t>
            </a:r>
            <a:br/>
            <a:r>
              <a:t>klare Handlungsempfehlungen.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017520"/>
            <a:ext cx="3200400" cy="27432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017520"/>
            <a:ext cx="32004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20" y="320040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  <a:defRPr sz="1500" b="1">
                <a:solidFill>
                  <a:srgbClr val="1A1A1F"/>
                </a:solidFill>
                <a:latin typeface="Calibri"/>
              </a:defRPr>
            </a:pPr>
            <a:r>
              <a:t>STEUERN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8862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Bei Bedarf löst CrowdOps gezielte</a:t>
            </a:r>
            <a:br/>
            <a:r>
              <a:t>Maßnahmen aus — von bereichs-</a:t>
            </a:r>
            <a:br/>
            <a:r>
              <a:t>spezifischen Durchsagen bis zur</a:t>
            </a:r>
            <a:br/>
            <a:r>
              <a:t>Evakuierungskommunikation.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4114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  <a:defRPr sz="2000" b="1">
                <a:solidFill>
                  <a:srgbClr val="E87F2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4114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  <a:defRPr sz="2000" b="1">
                <a:solidFill>
                  <a:srgbClr val="E87F2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989320"/>
            <a:ext cx="103327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60624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E87F24"/>
                </a:solidFill>
                <a:latin typeface="Calibri"/>
              </a:defRPr>
            </a:pPr>
            <a:r>
              <a:t>Kein Medienbruch. Keine Verzögerung. Ihr Team behält die Kontrolle.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SICHERHEIT &amp; CROWD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1A1F"/>
                </a:solidFill>
                <a:latin typeface="Calibri"/>
              </a:defRPr>
            </a:pPr>
            <a:r>
              <a:t>Sicherheit ist kein Add-on —</a:t>
            </a:r>
          </a:p>
          <a:p>
            <a:pPr algn="l">
              <a:spcAft>
                <a:spcPts val="1000"/>
              </a:spcAft>
              <a:defRPr sz="2800" b="1">
                <a:solidFill>
                  <a:srgbClr val="E87F24"/>
                </a:solidFill>
                <a:latin typeface="Calibri"/>
              </a:defRPr>
            </a:pPr>
            <a:r>
              <a:t>sie ist eingebaut.</a:t>
            </a: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CrowdOps erkennt kritische Situationen, bevor sie eskalieren. MOVETOS SET ermöglicht</a:t>
            </a:r>
            <a:br/>
            <a:r>
              <a:t>sofortige Reaktion — gezielt, dokumentiert, nachvollziehbar.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200400" cy="292608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20040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E87F24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  <a:defRPr sz="1500" b="1">
                <a:solidFill>
                  <a:srgbClr val="1A1A1F"/>
                </a:solidFill>
                <a:latin typeface="Calibri"/>
              </a:defRPr>
            </a:pPr>
            <a:r>
              <a:t>Frühwarnsystem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Automatische Alerts bei kritischer</a:t>
            </a:r>
            <a:br/>
            <a:r>
              <a:t>Personendichte. Stufenweise</a:t>
            </a:r>
            <a:br/>
            <a:r>
              <a:t>Empfehlungen nach konfigurierbaren</a:t>
            </a:r>
            <a:br/>
            <a:r>
              <a:t>Schwellenwerten — bevor eine</a:t>
            </a:r>
            <a:br/>
            <a:r>
              <a:t>Situation eskaliert.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Echtzeit-Dichte  |  Schwellenwerte  |  Eskalationsstufen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926080"/>
            <a:ext cx="3200400" cy="292608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926080"/>
            <a:ext cx="32004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DC2626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  <a:defRPr sz="1500" b="1">
                <a:solidFill>
                  <a:srgbClr val="1A1A1F"/>
                </a:solidFill>
                <a:latin typeface="Calibri"/>
              </a:defRPr>
            </a:pPr>
            <a:r>
              <a:t>Evakuierungsunterstützung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404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Zonenbasierte Durchsagen über</a:t>
            </a:r>
            <a:br/>
            <a:r>
              <a:t>MOVETOS-Lautsprecher. Gezielte</a:t>
            </a:r>
            <a:br/>
            <a:r>
              <a:t>Kommunikation an betroffene</a:t>
            </a:r>
            <a:br/>
            <a:r>
              <a:t>Bereiche. Lageübersicht für</a:t>
            </a:r>
            <a:br/>
            <a:r>
              <a:t>Einsatzleitung und BOS.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DC2626"/>
                </a:solidFill>
                <a:latin typeface="Consolas"/>
              </a:defRPr>
            </a:pPr>
            <a:r>
              <a:t>Zonen-Durchsagen  |  BOS-Anbindung  |  Lageübersicht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2926080"/>
            <a:ext cx="3200400" cy="292608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2926080"/>
            <a:ext cx="32004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16A34A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  <a:defRPr sz="1500" b="1">
                <a:solidFill>
                  <a:srgbClr val="1A1A1F"/>
                </a:solidFill>
                <a:latin typeface="Calibri"/>
              </a:defRPr>
            </a:pPr>
            <a:r>
              <a:t>Nachweispflicht erfüllt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8404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Jede Maßnahme wird automatisch</a:t>
            </a:r>
            <a:br/>
            <a:r>
              <a:t>protokolliert. Lückenloser Audit-Trail</a:t>
            </a:r>
            <a:br/>
            <a:r>
              <a:t>für Genehmigungsbehörden, Polizei</a:t>
            </a:r>
            <a:br/>
            <a:r>
              <a:t>und Auftraggeber. Wiederholungs-</a:t>
            </a:r>
            <a:br/>
            <a:r>
              <a:t>genehmigungen werden einfacher.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16A34A"/>
                </a:solidFill>
                <a:latin typeface="Consolas"/>
              </a:defRPr>
            </a:pPr>
            <a:r>
              <a:t>Audit-Trail  |  Behörden-Export  |  Compliance-Doku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6035040"/>
            <a:ext cx="10332720" cy="457200"/>
          </a:xfrm>
          <a:prstGeom prst="roundRect">
            <a:avLst/>
          </a:prstGeom>
          <a:solidFill>
            <a:srgbClr val="F4F4F7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6108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E87F24"/>
                </a:solidFill>
                <a:latin typeface="Calibri"/>
              </a:defRPr>
            </a:pPr>
            <a:r>
              <a:t>Vom Erkennen zur Reaktion — in Sekunden. Ihr Team behält die Kontrolle.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MOVETOS SET-SYSTEM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1A1F"/>
                </a:solidFill>
                <a:latin typeface="Calibri"/>
              </a:defRPr>
            </a:pPr>
            <a:r>
              <a:t>Infrastruktur, die sich dem Event anpasst —</a:t>
            </a:r>
          </a:p>
          <a:p>
            <a:pPr algn="l">
              <a:spcAft>
                <a:spcPts val="1000"/>
              </a:spcAft>
              <a:defRPr sz="2800" b="1">
                <a:solidFill>
                  <a:srgbClr val="E87F24"/>
                </a:solidFill>
                <a:latin typeface="Calibri"/>
              </a:defRPr>
            </a:pPr>
            <a:r>
              <a:t>nicht umgekehrt.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Das Event bestimmt den Standort. Nicht die Steckdose.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200400" cy="292608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2004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16A34A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  <a:defRPr sz="1500" b="1">
                <a:solidFill>
                  <a:srgbClr val="1A1A1F"/>
                </a:solidFill>
                <a:latin typeface="Calibri"/>
              </a:defRPr>
            </a:pPr>
            <a:r>
              <a:t>Kamerasysteme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Kabellose Mastsysteme mit HD-</a:t>
            </a:r>
            <a:br/>
            <a:r>
              <a:t>und 4K-Kameras. Flexibel positionier-</a:t>
            </a:r>
            <a:br/>
            <a:r>
              <a:t>bar, wetterfest IP67, Nachtsicht.</a:t>
            </a:r>
            <a:br/>
            <a:r>
              <a:t>Bis 8m Masthöhe.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Full HD / 4K  |  IP67  |  IR Nachtsicht  |  72h Akku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926080"/>
            <a:ext cx="3200400" cy="292608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926080"/>
            <a:ext cx="32004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16A34A"/>
                </a:solidFill>
                <a:latin typeface="Calibri"/>
              </a:defRPr>
            </a:pPr>
            <a:r>
              <a:t>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  <a:defRPr sz="1500" b="1">
                <a:solidFill>
                  <a:srgbClr val="1A1A1F"/>
                </a:solidFill>
                <a:latin typeface="Calibri"/>
              </a:defRPr>
            </a:pPr>
            <a:r>
              <a:t>Durchsagesysteme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404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Bereichsspezifische PA-Systeme</a:t>
            </a:r>
            <a:br/>
            <a:r>
              <a:t>(BDS/NDS) für gezielte Besucher-</a:t>
            </a:r>
            <a:br/>
            <a:r>
              <a:t>kommunikation. Sektoral steuerbar,</a:t>
            </a:r>
            <a:br/>
            <a:r>
              <a:t>automatisch über CrowdOps.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100V-Technik  |  120 dB  |  Mehrsprachig  |  TTS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2926080"/>
            <a:ext cx="3200400" cy="292608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2926080"/>
            <a:ext cx="32004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16A34A"/>
                </a:solidFill>
                <a:latin typeface="Calibri"/>
              </a:defRPr>
            </a:pPr>
            <a:r>
              <a:t>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  <a:defRPr sz="1500" b="1">
                <a:solidFill>
                  <a:srgbClr val="1A1A1F"/>
                </a:solidFill>
                <a:latin typeface="Calibri"/>
              </a:defRPr>
            </a:pPr>
            <a:r>
              <a:t>Mobile Leitstelle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8404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6B76"/>
                </a:solidFill>
                <a:latin typeface="Calibri"/>
              </a:defRPr>
            </a:pPr>
            <a:r>
              <a:t>Operations Command Center (OCC).</a:t>
            </a:r>
            <a:br/>
            <a:r>
              <a:t>Schlüsselfertige Einsatzzentrale mit</a:t>
            </a:r>
            <a:br/>
            <a:r>
              <a:t>Bildschirmen, Netzwerk und</a:t>
            </a:r>
            <a:br/>
            <a:r>
              <a:t>CrowdOps-Zugang.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Multi-Monitor  |  Klimatisiert  |  Netzautark  |  Funk + VoIP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6035040"/>
            <a:ext cx="103327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6108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200" b="1">
                <a:solidFill>
                  <a:srgbClr val="E87F24"/>
                </a:solidFill>
                <a:latin typeface="Calibri"/>
              </a:defRPr>
            </a:pPr>
            <a:r>
              <a:t>Unter 5h Aufbau  |  Netzautark  |  Überall einsetzbar  |  Modular skalierbar (5 bis 50+ Maste)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FUNKTIONEN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800" b="1">
                <a:solidFill>
                  <a:srgbClr val="1A1A1F"/>
                </a:solidFill>
                <a:latin typeface="Calibri"/>
              </a:defRPr>
            </a:pPr>
            <a:r>
              <a:t>Ihr Frühwarnsystem für den laufenden Betrieb.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Vorkonfiguriert auf Basis internationaler Betriebsnormen — sofort einsatzbereit.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2331720" cy="13716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233172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Calibri"/>
              </a:defRPr>
            </a:pPr>
            <a:r>
              <a:t>Echtzeit-Besucheranalyse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99232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Besucherzahlen, Auslastung und</a:t>
            </a:r>
            <a:br/>
            <a:r>
              <a:t>Verweildauer über alle Bereiche.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560320"/>
            <a:ext cx="2331720" cy="13716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560320"/>
            <a:ext cx="23317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Besucherstrom-Visualisierung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99232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Sehen, wohin sich Besucher bewegen</a:t>
            </a:r>
            <a:br/>
            <a:r>
              <a:t>und wo Stauungen entstehen.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560320"/>
            <a:ext cx="2331720" cy="13716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560320"/>
            <a:ext cx="233172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E87F24"/>
                </a:solidFill>
                <a:latin typeface="Calibri"/>
              </a:defRPr>
            </a:pPr>
            <a:r>
              <a:t>Gezielte Besucherlenkung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99232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Bereichsspezifische Durchsagen über</a:t>
            </a:r>
            <a:br/>
            <a:r>
              <a:t>MOVETOS-Lautsprecher.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560320"/>
            <a:ext cx="2331720" cy="13716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2560320"/>
            <a:ext cx="23317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Operatives Echtzeit-Cockpit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999232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Gesamtes Gelände auf einer</a:t>
            </a:r>
            <a:br/>
            <a:r>
              <a:t>interaktiven Karte.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114800"/>
            <a:ext cx="2331720" cy="13716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114800"/>
            <a:ext cx="2331720" cy="381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251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CA8A04"/>
                </a:solidFill>
                <a:latin typeface="Calibri"/>
              </a:defRPr>
            </a:pPr>
            <a:r>
              <a:t>Dokumentation, die mitläuft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53712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Automatische Protokollierung.</a:t>
            </a:r>
            <a:br/>
            <a:r>
              <a:t>Audit-Trail, Exportfunktionen.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4114800"/>
            <a:ext cx="2331720" cy="13716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40" y="4114800"/>
            <a:ext cx="23317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4251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/>
              </a:defRPr>
            </a:pPr>
            <a:r>
              <a:t>Datenschutz als Designprinzip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553712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Keine Gesichtserkennung.</a:t>
            </a:r>
            <a:br/>
            <a:r>
              <a:t>Privacy-Zonen. DSGVO by Design.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114800"/>
            <a:ext cx="2331720" cy="13716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114800"/>
            <a:ext cx="23317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51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/>
              </a:defRPr>
            </a:pPr>
            <a:r>
              <a:t>Sicherheits-Alerts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553712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Automatische Warnungen bei kritischer</a:t>
            </a:r>
            <a:br/>
            <a:r>
              <a:t>Personendichte. Stufenweise Eskalation.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4114800"/>
            <a:ext cx="2331720" cy="13716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32520" y="4114800"/>
            <a:ext cx="233172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251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6A34A"/>
                </a:solidFill>
                <a:latin typeface="Calibri"/>
              </a:defRPr>
            </a:pPr>
            <a:r>
              <a:t>Team-Management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553712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Rollenbasierte Zugänge,</a:t>
            </a:r>
            <a:br/>
            <a:r>
              <a:t>Event-Einladungen, Aufgabenverteilung.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000" b="1">
                <a:solidFill>
                  <a:srgbClr val="1A1A1F"/>
                </a:solidFill>
                <a:latin typeface="Calibri"/>
              </a:defRPr>
            </a:pPr>
            <a:r>
              <a:t>Eingebaut, nicht aufgesetzt.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Entwickelt auf Basis internationaler Betriebsnormen — mit lückenlosem Audit-Trail.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1491" y="2560320"/>
            <a:ext cx="1325880" cy="12801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1491" y="2560320"/>
            <a:ext cx="132588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931" y="27432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200" b="1">
                <a:solidFill>
                  <a:srgbClr val="1A1A1F"/>
                </a:solidFill>
                <a:latin typeface="Consolas"/>
              </a:defRPr>
            </a:pPr>
            <a:r>
              <a:t>MVStättVO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931" y="32918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Versammlungs-</a:t>
            </a:r>
            <a:br/>
            <a:r>
              <a:t>stätten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1963" y="2560320"/>
            <a:ext cx="1325880" cy="12801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51963" y="2560320"/>
            <a:ext cx="132588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3403" y="27432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200" b="1">
                <a:solidFill>
                  <a:srgbClr val="1A1A1F"/>
                </a:solidFill>
                <a:latin typeface="Consolas"/>
              </a:defRPr>
            </a:pPr>
            <a:r>
              <a:t>DIN EN</a:t>
            </a:r>
            <a:br/>
            <a:r>
              <a:t>13200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3403" y="32918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Zuschauer-</a:t>
            </a:r>
            <a:br/>
            <a:r>
              <a:t>anlagen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42435" y="2560320"/>
            <a:ext cx="1325880" cy="12801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42435" y="2560320"/>
            <a:ext cx="132588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3875" y="27432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200" b="1">
                <a:solidFill>
                  <a:srgbClr val="1A1A1F"/>
                </a:solidFill>
                <a:latin typeface="Consolas"/>
              </a:defRPr>
            </a:pPr>
            <a:r>
              <a:t>EN 50518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3875" y="32918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Alarmempfangs-</a:t>
            </a:r>
            <a:br/>
            <a:r>
              <a:t>stellen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32907" y="2560320"/>
            <a:ext cx="1325880" cy="12801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32907" y="2560320"/>
            <a:ext cx="132588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4347" y="27432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200" b="1">
                <a:solidFill>
                  <a:srgbClr val="1A1A1F"/>
                </a:solidFill>
                <a:latin typeface="Consolas"/>
              </a:defRPr>
            </a:pPr>
            <a:r>
              <a:t>VdS 2366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347" y="32918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Video-</a:t>
            </a:r>
            <a:br/>
            <a:r>
              <a:t>überwachung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23379" y="2560320"/>
            <a:ext cx="1325880" cy="12801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3379" y="2560320"/>
            <a:ext cx="132588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4819" y="27432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200" b="1">
                <a:solidFill>
                  <a:srgbClr val="1A1A1F"/>
                </a:solidFill>
                <a:latin typeface="Consolas"/>
              </a:defRPr>
            </a:pPr>
            <a:r>
              <a:t>ISO 22313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4819" y="32918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Business</a:t>
            </a:r>
            <a:br/>
            <a:r>
              <a:t>Continuity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3851" y="2560320"/>
            <a:ext cx="1325880" cy="12801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3851" y="2560320"/>
            <a:ext cx="132588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5291" y="27432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200" b="1">
                <a:solidFill>
                  <a:srgbClr val="1A1A1F"/>
                </a:solidFill>
                <a:latin typeface="Consolas"/>
              </a:defRPr>
            </a:pPr>
            <a:r>
              <a:t>DIN 14675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5291" y="32918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Brandmelde-</a:t>
            </a:r>
            <a:br/>
            <a:r>
              <a:t>anlagen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4323" y="2560320"/>
            <a:ext cx="1325880" cy="128016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04323" y="2560320"/>
            <a:ext cx="132588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5763" y="27432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200" b="1">
                <a:solidFill>
                  <a:srgbClr val="1A1A1F"/>
                </a:solidFill>
                <a:latin typeface="Consolas"/>
              </a:defRPr>
            </a:pPr>
            <a:r>
              <a:t>DSGVO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5763" y="32918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Datenschutz-</a:t>
            </a:r>
            <a:br/>
            <a:r>
              <a:t>konform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206240"/>
            <a:ext cx="9418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448056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1A1A1F"/>
                </a:solidFill>
                <a:latin typeface="Calibri"/>
              </a:defRPr>
            </a:pPr>
            <a:r>
              <a:t>Was das für Sie bedeutet: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300" b="0">
                <a:solidFill>
                  <a:srgbClr val="6B6B76"/>
                </a:solidFill>
                <a:latin typeface="Calibri"/>
              </a:defRPr>
            </a:pPr>
            <a:r>
              <a:t>Lückenlose Dokumentation läuft automatisch mit. Genehmigungsprozesse werden einfacher,</a:t>
            </a:r>
            <a:br/>
            <a:r>
              <a:t>Wiederholungsgenehmigungen schneller. Jede Maßnahme ist nachvollziehbar —</a:t>
            </a:r>
            <a:br/>
            <a:r>
              <a:t>Wer hat was wann entschieden? Vollständiger Audit-Trail für Behörden und Auftraggeber.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REFERENZEN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A1A1F"/>
                </a:solidFill>
                <a:latin typeface="Calibri"/>
              </a:defRPr>
            </a:pPr>
            <a:r>
              <a:t>Bewährt bei den Großen.</a:t>
            </a:r>
          </a:p>
          <a:p>
            <a:pPr algn="l">
              <a:spcAft>
                <a:spcPts val="600"/>
              </a:spcAft>
              <a:defRPr sz="2800" b="1">
                <a:solidFill>
                  <a:srgbClr val="E87F24"/>
                </a:solidFill>
                <a:latin typeface="Calibri"/>
              </a:defRPr>
            </a:pPr>
            <a:r>
              <a:t>Bereit für Ihr Event.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10058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320040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04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A1A1F"/>
                </a:solidFill>
                <a:latin typeface="Calibri"/>
              </a:defRPr>
            </a:pPr>
            <a:r>
              <a:t>BMW Motorrad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304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Festival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40.000+ Besucher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33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+12% Kapazität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94560"/>
            <a:ext cx="3200400" cy="10058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194560"/>
            <a:ext cx="3200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04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A1A1F"/>
                </a:solidFill>
                <a:latin typeface="Calibri"/>
              </a:defRPr>
            </a:pPr>
            <a:r>
              <a:t>Christkindlmarkt München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04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2563EB"/>
                </a:solidFill>
                <a:latin typeface="Consolas"/>
              </a:defRPr>
            </a:pPr>
            <a:r>
              <a:t>Stadtfest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33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3 Mio.+ Besucher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633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Crowd Safety &lt; 4h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2194560"/>
            <a:ext cx="3200400" cy="10058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2194560"/>
            <a:ext cx="32004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304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A1A1F"/>
                </a:solidFill>
                <a:latin typeface="Calibri"/>
              </a:defRPr>
            </a:pPr>
            <a:r>
              <a:t>VW Wolfsburg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304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16A34A"/>
                </a:solidFill>
                <a:latin typeface="Consolas"/>
              </a:defRPr>
            </a:pPr>
            <a:r>
              <a:t>Corporate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633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25.000+ Besucher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633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Compliance-Doku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337560"/>
            <a:ext cx="3200400" cy="10058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337560"/>
            <a:ext cx="320040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447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A1A1F"/>
                </a:solidFill>
                <a:latin typeface="Calibri"/>
              </a:defRPr>
            </a:pPr>
            <a:r>
              <a:t>UCI Rad WM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447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E87F24"/>
                </a:solidFill>
                <a:latin typeface="Consolas"/>
              </a:defRPr>
            </a:pPr>
            <a:r>
              <a:t>Festival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776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120.000+ Besucher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776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22 Kamerastandorte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337560"/>
            <a:ext cx="3200400" cy="10058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337560"/>
            <a:ext cx="3200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447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A1A1F"/>
                </a:solidFill>
                <a:latin typeface="Calibri"/>
              </a:defRPr>
            </a:pPr>
            <a:r>
              <a:t>Plärrer Augsburg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47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2563EB"/>
                </a:solidFill>
                <a:latin typeface="Consolas"/>
              </a:defRPr>
            </a:pPr>
            <a:r>
              <a:t>Stadtfest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776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500.000+ Besucher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776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Echtzeit-Ströme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3337560"/>
            <a:ext cx="3200400" cy="10058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3337560"/>
            <a:ext cx="3200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447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A1A1F"/>
                </a:solidFill>
                <a:latin typeface="Calibri"/>
              </a:defRPr>
            </a:pPr>
            <a:r>
              <a:t>Tag der Dt. Einheit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447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2563EB"/>
                </a:solidFill>
                <a:latin typeface="Consolas"/>
              </a:defRPr>
            </a:pPr>
            <a:r>
              <a:t>Stadtfest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776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1 Mio.+ Besucher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776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Nat. Sicherheitskonzept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480560"/>
            <a:ext cx="3200400" cy="10058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4480560"/>
            <a:ext cx="32004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A1A1F"/>
                </a:solidFill>
                <a:latin typeface="Calibri"/>
              </a:defRPr>
            </a:pPr>
            <a:r>
              <a:t>Flughafen München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DC2626"/>
                </a:solidFill>
                <a:latin typeface="Consolas"/>
              </a:defRPr>
            </a:pPr>
            <a:r>
              <a:t>KRITIS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919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24/7 Besucher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4919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KRITIS-Sicherheit 24/7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4480560"/>
            <a:ext cx="3200400" cy="10058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34840" y="4480560"/>
            <a:ext cx="32004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A1A1F"/>
                </a:solidFill>
                <a:latin typeface="Calibri"/>
              </a:defRPr>
            </a:pPr>
            <a:r>
              <a:t>Airbus Pioneer Day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16A34A"/>
                </a:solidFill>
                <a:latin typeface="Consolas"/>
              </a:defRPr>
            </a:pPr>
            <a:r>
              <a:t>Corporate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4919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15.000+ Besucher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4919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Werksgelände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55280" y="4480560"/>
            <a:ext cx="3200400" cy="100584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55280" y="4480560"/>
            <a:ext cx="3200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  <a:defRPr sz="1100" b="1">
                <a:solidFill>
                  <a:srgbClr val="1A1A1F"/>
                </a:solidFill>
                <a:latin typeface="Calibri"/>
              </a:defRPr>
            </a:pPr>
            <a:r>
              <a:t>Stoppelmarkt Vechta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4590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1">
                <a:solidFill>
                  <a:srgbClr val="2563EB"/>
                </a:solidFill>
                <a:latin typeface="Consolas"/>
              </a:defRPr>
            </a:pPr>
            <a:r>
              <a:t>Stadtfest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919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800.000+ Besucher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4919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  <a:defRPr sz="900" b="0">
                <a:solidFill>
                  <a:srgbClr val="9494A0"/>
                </a:solidFill>
                <a:latin typeface="Calibri"/>
              </a:defRPr>
            </a:pPr>
            <a:r>
              <a:t>Größtes NW-Fest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400" y="5715000"/>
            <a:ext cx="10332720" cy="777240"/>
          </a:xfrm>
          <a:prstGeom prst="roundRect">
            <a:avLst/>
          </a:prstGeom>
          <a:solidFill>
            <a:srgbClr val="F4F4F7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0" y="5806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200" b="0">
                <a:solidFill>
                  <a:srgbClr val="6B6B76"/>
                </a:solidFill>
                <a:latin typeface="Calibri"/>
              </a:defRPr>
            </a:pPr>
            <a:r>
              <a:t>„Mit CrowdOps haben wir zum ersten Mal verstanden, wie sich unsere Besucher tatsächlich über das Gelände bewegen. Das hat unsere Planung grundlegend verändert.“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E87F24"/>
                </a:solidFill>
                <a:latin typeface="Calibri"/>
              </a:defRPr>
            </a:pPr>
            <a:r>
              <a:t>— Thomas M., Veranstaltungsleiter, BMW Motorrad Days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"/>
            <a:ext cx="1828800" cy="265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——  UNSERE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3000" b="1">
                <a:solidFill>
                  <a:srgbClr val="1A1A1F"/>
                </a:solidFill>
                <a:latin typeface="Calibri"/>
              </a:defRPr>
            </a:pPr>
            <a:r>
              <a:t>Operations Intelligence für jedes Event.</a:t>
            </a:r>
          </a:p>
          <a:p>
            <a:pPr algn="l">
              <a:lnSpc>
                <a:spcPts val="2200"/>
              </a:lnSpc>
              <a:spcAft>
                <a:spcPts val="800"/>
              </a:spcAft>
              <a:defRPr sz="1400" b="0">
                <a:solidFill>
                  <a:srgbClr val="6B6B76"/>
                </a:solidFill>
                <a:latin typeface="Calibri"/>
              </a:defRPr>
            </a:pPr>
            <a:r>
              <a:t>Wir glauben, dass großartige Veranstaltungen eine großartige operative Grundlage verdienen.</a:t>
            </a:r>
            <a:br/>
            <a:r>
              <a:t>Deshalb entwickeln wir Technologie, die Betreibern das Werkzeug gibt, vorausschauend</a:t>
            </a:r>
            <a:br/>
            <a:r>
              <a:t>zu steuern statt blind zu reagieren.</a:t>
            </a:r>
          </a:p>
          <a:p>
            <a:pPr algn="l">
              <a:lnSpc>
                <a:spcPts val="2200"/>
              </a:lnSpc>
              <a:spcAft>
                <a:spcPts val="8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Hardware und Software als ein System. MOVETOS SET liefert die physische Infrastruktur —</a:t>
            </a:r>
            <a:br/>
            <a:r>
              <a:t>kabellos, netzautark, in Stunden aufgebaut. CrowdOps liefert die Intelligenz —</a:t>
            </a:r>
            <a:br/>
            <a:r>
              <a:t>KI-gestützte Besucheranalyse, Echtzeit-Lagebild und eingebaute Compliance.</a:t>
            </a: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>
                <a:solidFill>
                  <a:srgbClr val="E87F24"/>
                </a:solidFill>
                <a:latin typeface="Calibri"/>
              </a:defRPr>
            </a:pPr>
            <a:r>
              <a:t>Sicherheit und Effizienz gehören zusammen. Wer sein Gelände versteht, schützt seine</a:t>
            </a:r>
            <a:br/>
            <a:r>
              <a:t>Besucher — und ermöglicht gleichzeitig ein besseres Erlebnis.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3200400" cy="18288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3200400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736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E87F24"/>
                </a:solidFill>
                <a:latin typeface="Calibri"/>
              </a:defRPr>
            </a:pPr>
            <a:r>
              <a:t>Festivals &amp; Konzerte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0749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Zentrale Steuerung für das gesamte</a:t>
            </a:r>
            <a:br/>
            <a:r>
              <a:t>Veranstaltungsgelände. Alle Kamera-</a:t>
            </a:r>
            <a:br/>
            <a:r>
              <a:t>feeds, Besucherströme und Durch-</a:t>
            </a:r>
            <a:br/>
            <a:r>
              <a:t>sagen in einem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572000"/>
            <a:ext cx="3200400" cy="18288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4572000"/>
            <a:ext cx="3200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4736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Stadtfeste &amp; Märkte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50749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Koordination über weitläufige</a:t>
            </a:r>
            <a:br/>
            <a:r>
              <a:t>Innenstadtbereiche. Mehrere</a:t>
            </a:r>
            <a:br/>
            <a:r>
              <a:t>Leitstellen-Arbeitsplätze für</a:t>
            </a:r>
            <a:br/>
            <a:r>
              <a:t>verschiedene Zuständigkeiten.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572000"/>
            <a:ext cx="3200400" cy="1828800"/>
          </a:xfrm>
          <a:prstGeom prst="roundRect">
            <a:avLst/>
          </a:prstGeom>
          <a:solidFill>
            <a:srgbClr val="F8F8FA"/>
          </a:solidFill>
          <a:ln w="9525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4572000"/>
            <a:ext cx="32004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36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  <a:defRPr sz="1300" b="1">
                <a:solidFill>
                  <a:srgbClr val="16A34A"/>
                </a:solidFill>
                <a:latin typeface="Calibri"/>
              </a:defRPr>
            </a:pPr>
            <a:r>
              <a:t>Corporate &amp; KRITIS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0749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6B76"/>
                </a:solidFill>
                <a:latin typeface="Calibri"/>
              </a:defRPr>
            </a:pPr>
            <a:r>
              <a:t>Temporäre Einsatzzentrale für</a:t>
            </a:r>
            <a:br/>
            <a:r>
              <a:t>Werksevents, Messen oder besondere</a:t>
            </a:r>
            <a:br/>
            <a:r>
              <a:t>Sicherheitslagen auf</a:t>
            </a:r>
            <a:br/>
            <a:r>
              <a:t>Industriegeländen.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VET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731520"/>
            <a:ext cx="4114800" cy="5966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6517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  <a:defRPr sz="1000" b="1">
                <a:solidFill>
                  <a:srgbClr val="E87F24"/>
                </a:solidFill>
                <a:latin typeface="Consolas"/>
              </a:defRPr>
            </a:pPr>
            <a:r>
              <a:t>OPERATIONS  ·  INTELLIGENCE  · 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657600"/>
            <a:ext cx="8534095" cy="127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8534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1A1A1F"/>
                </a:solidFill>
                <a:latin typeface="Calibri"/>
              </a:defRPr>
            </a:pPr>
            <a:r>
              <a:t>Erleben Sie MOVETOS live.</a:t>
            </a:r>
          </a:p>
          <a:p>
            <a:pPr algn="ctr">
              <a:lnSpc>
                <a:spcPts val="2200"/>
              </a:lnSpc>
              <a:spcAft>
                <a:spcPts val="600"/>
              </a:spcAft>
              <a:defRPr sz="1400" b="0">
                <a:solidFill>
                  <a:srgbClr val="9494A0"/>
                </a:solidFill>
                <a:latin typeface="Calibri"/>
              </a:defRPr>
            </a:pPr>
            <a:r>
              <a:t>30 Minuten Live-Demo. Wir zeigen Ihnen, wie CrowdOps und MOVETOS SET</a:t>
            </a:r>
            <a:br/>
            <a:r>
              <a:t>Ihren Veranstaltungsbetrieb transformieren.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B6B76"/>
                </a:solidFill>
                <a:latin typeface="Calibri"/>
              </a:defRPr>
            </a:pPr>
            <a:r>
              <a:t>MOVETOS Germany GmbH  |  Feldafinger Str. 5, 82343 Pöcking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E87F24"/>
                </a:solidFill>
                <a:latin typeface="Calibri"/>
              </a:defRPr>
            </a:pPr>
            <a:r>
              <a:t>+49 8157 2934870  |  kontakt@movetos.de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E8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  <a:defRPr sz="800" b="0">
                <a:solidFill>
                  <a:srgbClr val="9494A0"/>
                </a:solidFill>
                <a:latin typeface="Consolas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